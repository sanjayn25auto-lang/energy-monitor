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9" r:id="rId3"/>
    <p:sldId id="275" r:id="rId4"/>
    <p:sldId id="264" r:id="rId5"/>
    <p:sldId id="276" r:id="rId6"/>
    <p:sldId id="268" r:id="rId7"/>
    <p:sldId id="277" r:id="rId8"/>
    <p:sldId id="266" r:id="rId9"/>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939">
          <p15:clr>
            <a:srgbClr val="000000"/>
          </p15:clr>
        </p15:guide>
        <p15:guide id="2" pos="216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jqaEJF3Jv29g/oR/va8+a7sQBm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80B455-E06C-406D-8368-01226B906137}" v="80" dt="2025-11-10T09:19:24.586"/>
  </p1510:revLst>
</p1510:revInfo>
</file>

<file path=ppt/tableStyles.xml><?xml version="1.0" encoding="utf-8"?>
<a:tblStyleLst xmlns:a="http://schemas.openxmlformats.org/drawingml/2006/main" def="{491DBE5D-E312-4B21-9E5E-1AE7C8B9E3E7}">
  <a:tblStyle styleId="{491DBE5D-E312-4B21-9E5E-1AE7C8B9E3E7}" styleName="Table_0">
    <a:wholeTbl>
      <a:tcTxStyle b="off" i="off">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dk1">
              <a:alpha val="20000"/>
            </a:schemeClr>
          </a:solidFill>
        </a:fill>
      </a:tcStyle>
    </a:band1H>
    <a:band2H>
      <a:tcTxStyle b="off" i="off"/>
      <a:tcStyle>
        <a:tcBdr/>
      </a:tcStyle>
    </a:band2H>
    <a:band1V>
      <a:tcTxStyle b="off" i="off"/>
      <a:tcStyle>
        <a:tcBdr/>
        <a:fill>
          <a:solidFill>
            <a:schemeClr val="dk1">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50800" cap="flat" cmpd="sng">
              <a:solidFill>
                <a:schemeClr val="dk1"/>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25400" cap="flat" cmpd="sng">
              <a:solidFill>
                <a:schemeClr val="dk1"/>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99" y="24"/>
      </p:cViewPr>
      <p:guideLst>
        <p:guide orient="horz" pos="2939"/>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23" Type="http://schemas.microsoft.com/office/2015/10/relationships/revisionInfo" Target="revisionInfo.xml"/><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10177185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42" name="Google Shape;42;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8914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588bb4af59_0_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71" name="Google Shape;71;g2588bb4af59_0_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59340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588bb4af59_0_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71" name="Google Shape;71;g2588bb4af59_0_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691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4" name="Google Shape;104;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7068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4" name="Google Shape;104;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3097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4" name="Google Shape;104;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52148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588bb4af59_0_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71" name="Google Shape;71;g2588bb4af59_0_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1220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18" name="Google Shape;118;p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8304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
        <p:cNvGrpSpPr/>
        <p:nvPr/>
      </p:nvGrpSpPr>
      <p:grpSpPr>
        <a:xfrm>
          <a:off x="0" y="0"/>
          <a:ext cx="0" cy="0"/>
          <a:chOff x="0" y="0"/>
          <a:chExt cx="0" cy="0"/>
        </a:xfrm>
      </p:grpSpPr>
      <p:sp>
        <p:nvSpPr>
          <p:cNvPr id="13" name="Google Shape;13;p12"/>
          <p:cNvSpPr txBox="1">
            <a:spLocks noGrp="1"/>
          </p:cNvSpPr>
          <p:nvPr>
            <p:ph type="title"/>
          </p:nvPr>
        </p:nvSpPr>
        <p:spPr>
          <a:xfrm>
            <a:off x="3670591" y="1934454"/>
            <a:ext cx="4850817" cy="10007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4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2"/>
          <p:cNvSpPr txBox="1">
            <a:spLocks noGrp="1"/>
          </p:cNvSpPr>
          <p:nvPr>
            <p:ph type="body" idx="1"/>
          </p:nvPr>
        </p:nvSpPr>
        <p:spPr>
          <a:xfrm>
            <a:off x="1322908" y="2227490"/>
            <a:ext cx="9546183" cy="17018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000" b="0" i="0">
                <a:solidFill>
                  <a:schemeClr val="dk1"/>
                </a:solidFill>
                <a:latin typeface="Times New Roman"/>
                <a:ea typeface="Times New Roman"/>
                <a:cs typeface="Times New Roman"/>
                <a:sym typeface="Times New Roman"/>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5" name="Google Shape;15;p1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8"/>
        <p:cNvGrpSpPr/>
        <p:nvPr/>
      </p:nvGrpSpPr>
      <p:grpSpPr>
        <a:xfrm>
          <a:off x="0" y="0"/>
          <a:ext cx="0" cy="0"/>
          <a:chOff x="0" y="0"/>
          <a:chExt cx="0" cy="0"/>
        </a:xfrm>
      </p:grpSpPr>
      <p:sp>
        <p:nvSpPr>
          <p:cNvPr id="19" name="Google Shape;19;p13"/>
          <p:cNvSpPr txBox="1">
            <a:spLocks noGrp="1"/>
          </p:cNvSpPr>
          <p:nvPr>
            <p:ph type="title"/>
          </p:nvPr>
        </p:nvSpPr>
        <p:spPr>
          <a:xfrm>
            <a:off x="3670591" y="1934454"/>
            <a:ext cx="4850817" cy="10007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4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3"/>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3"/>
        <p:cNvGrpSpPr/>
        <p:nvPr/>
      </p:nvGrpSpPr>
      <p:grpSpPr>
        <a:xfrm>
          <a:off x="0" y="0"/>
          <a:ext cx="0" cy="0"/>
          <a:chOff x="0" y="0"/>
          <a:chExt cx="0" cy="0"/>
        </a:xfrm>
      </p:grpSpPr>
      <p:sp>
        <p:nvSpPr>
          <p:cNvPr id="24" name="Google Shape;24;p14"/>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4"/>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6"/>
        <p:cNvGrpSpPr/>
        <p:nvPr/>
      </p:nvGrpSpPr>
      <p:grpSpPr>
        <a:xfrm>
          <a:off x="0" y="0"/>
          <a:ext cx="0" cy="0"/>
          <a:chOff x="0" y="0"/>
          <a:chExt cx="0" cy="0"/>
        </a:xfrm>
      </p:grpSpPr>
      <p:sp>
        <p:nvSpPr>
          <p:cNvPr id="37" name="Google Shape;37;p1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1"/>
          <p:cNvPicPr preferRelativeResize="0"/>
          <p:nvPr/>
        </p:nvPicPr>
        <p:blipFill rotWithShape="1">
          <a:blip r:embed="rId6">
            <a:alphaModFix/>
          </a:blip>
          <a:srcRect/>
          <a:stretch/>
        </p:blipFill>
        <p:spPr>
          <a:xfrm>
            <a:off x="0" y="0"/>
            <a:ext cx="12191999" cy="6857999"/>
          </a:xfrm>
          <a:prstGeom prst="rect">
            <a:avLst/>
          </a:prstGeom>
          <a:noFill/>
          <a:ln>
            <a:noFill/>
          </a:ln>
        </p:spPr>
      </p:pic>
      <p:sp>
        <p:nvSpPr>
          <p:cNvPr id="7" name="Google Shape;7;p11"/>
          <p:cNvSpPr txBox="1">
            <a:spLocks noGrp="1"/>
          </p:cNvSpPr>
          <p:nvPr>
            <p:ph type="title"/>
          </p:nvPr>
        </p:nvSpPr>
        <p:spPr>
          <a:xfrm>
            <a:off x="3670591" y="1934454"/>
            <a:ext cx="4850817" cy="100076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1"/>
          <p:cNvSpPr txBox="1">
            <a:spLocks noGrp="1"/>
          </p:cNvSpPr>
          <p:nvPr>
            <p:ph type="body" idx="1"/>
          </p:nvPr>
        </p:nvSpPr>
        <p:spPr>
          <a:xfrm>
            <a:off x="1322908" y="2227490"/>
            <a:ext cx="9546183" cy="17018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Times New Roman"/>
                <a:ea typeface="Times New Roman"/>
                <a:cs typeface="Times New Roman"/>
                <a:sym typeface="Times New Roman"/>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9" name="Google Shape;9;p1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11"/>
          <p:cNvSpPr txBox="1">
            <a:spLocks noGrp="1"/>
          </p:cNvSpPr>
          <p:nvPr>
            <p:ph type="sldNum" idx="12"/>
          </p:nvPr>
        </p:nvSpPr>
        <p:spPr>
          <a:xfrm>
            <a:off x="11034279" y="6514910"/>
            <a:ext cx="245109" cy="281304"/>
          </a:xfrm>
          <a:prstGeom prst="rect">
            <a:avLst/>
          </a:prstGeom>
          <a:noFill/>
          <a:ln>
            <a:noFill/>
          </a:ln>
        </p:spPr>
        <p:txBody>
          <a:bodyPr spcFirstLastPara="1" wrap="square" lIns="0" tIns="0" rIns="0" bIns="0" anchor="t" anchorCtr="0">
            <a:spAutoFit/>
          </a:bodyPr>
          <a:lstStyle>
            <a:lvl1pPr marL="38100" marR="0" lvl="0"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38100" marR="0" lvl="1"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38100" marR="0" lvl="2"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38100" marR="0" lvl="3"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38100" marR="0" lvl="4"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38100" marR="0" lvl="5"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38100" marR="0" lvl="6"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38100" marR="0" lvl="7"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38100" marR="0" lvl="8" indent="0" algn="l" rtl="0">
              <a:lnSpc>
                <a:spcPct val="116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3"/>
        <p:cNvGrpSpPr/>
        <p:nvPr/>
      </p:nvGrpSpPr>
      <p:grpSpPr>
        <a:xfrm>
          <a:off x="0" y="0"/>
          <a:ext cx="0" cy="0"/>
          <a:chOff x="0" y="0"/>
          <a:chExt cx="0" cy="0"/>
        </a:xfrm>
      </p:grpSpPr>
      <p:pic>
        <p:nvPicPr>
          <p:cNvPr id="44" name="Google Shape;44;p1"/>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5" name="Google Shape;45;p1"/>
          <p:cNvSpPr txBox="1"/>
          <p:nvPr/>
        </p:nvSpPr>
        <p:spPr>
          <a:xfrm>
            <a:off x="2146300" y="2544325"/>
            <a:ext cx="10045700" cy="751488"/>
          </a:xfrm>
          <a:prstGeom prst="rect">
            <a:avLst/>
          </a:prstGeom>
          <a:noFill/>
          <a:ln>
            <a:noFill/>
          </a:ln>
        </p:spPr>
        <p:txBody>
          <a:bodyPr spcFirstLastPara="1" wrap="square" lIns="0" tIns="12700" rIns="0" bIns="0" anchor="t" anchorCtr="0">
            <a:spAutoFit/>
          </a:bodyPr>
          <a:lstStyle/>
          <a:p>
            <a:pPr marR="5080" lvl="0" algn="ctr" rtl="0">
              <a:lnSpc>
                <a:spcPct val="100000"/>
              </a:lnSpc>
              <a:spcBef>
                <a:spcPts val="0"/>
              </a:spcBef>
              <a:spcAft>
                <a:spcPts val="0"/>
              </a:spcAft>
              <a:buClr>
                <a:srgbClr val="000000"/>
              </a:buClr>
              <a:buSzPts val="2400"/>
              <a:buFont typeface="Arial"/>
              <a:buNone/>
            </a:pPr>
            <a:r>
              <a:rPr lang="en-US" sz="2400" b="0" i="0" u="none" strike="noStrike" cap="none" dirty="0">
                <a:solidFill>
                  <a:srgbClr val="FF0000"/>
                </a:solidFill>
                <a:latin typeface="Times New Roman" panose="02020603050405020304" pitchFamily="18" charset="0"/>
                <a:cs typeface="Times New Roman" panose="02020603050405020304" pitchFamily="18" charset="0"/>
                <a:sym typeface="Arial"/>
              </a:rPr>
              <a:t>DEPARTMENT OF ELECTRONICS AND COMMUNICATION ENGINEERING</a:t>
            </a:r>
            <a:endParaRPr sz="24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grpSp>
        <p:nvGrpSpPr>
          <p:cNvPr id="46" name="Google Shape;46;p1"/>
          <p:cNvGrpSpPr/>
          <p:nvPr/>
        </p:nvGrpSpPr>
        <p:grpSpPr>
          <a:xfrm>
            <a:off x="220205" y="1294727"/>
            <a:ext cx="1708370" cy="5091495"/>
            <a:chOff x="190553" y="1212849"/>
            <a:chExt cx="1813556" cy="5206028"/>
          </a:xfrm>
        </p:grpSpPr>
        <p:pic>
          <p:nvPicPr>
            <p:cNvPr id="47" name="Google Shape;47;p1"/>
            <p:cNvPicPr preferRelativeResize="0"/>
            <p:nvPr/>
          </p:nvPicPr>
          <p:blipFill rotWithShape="1">
            <a:blip r:embed="rId4">
              <a:alphaModFix/>
            </a:blip>
            <a:srcRect/>
            <a:stretch/>
          </p:blipFill>
          <p:spPr>
            <a:xfrm>
              <a:off x="629861" y="1212849"/>
              <a:ext cx="1374248" cy="1066799"/>
            </a:xfrm>
            <a:prstGeom prst="rect">
              <a:avLst/>
            </a:prstGeom>
            <a:noFill/>
            <a:ln>
              <a:noFill/>
            </a:ln>
          </p:spPr>
        </p:pic>
        <p:pic>
          <p:nvPicPr>
            <p:cNvPr id="48" name="Google Shape;48;p1"/>
            <p:cNvPicPr preferRelativeResize="0"/>
            <p:nvPr/>
          </p:nvPicPr>
          <p:blipFill rotWithShape="1">
            <a:blip r:embed="rId5">
              <a:alphaModFix/>
            </a:blip>
            <a:srcRect/>
            <a:stretch/>
          </p:blipFill>
          <p:spPr>
            <a:xfrm>
              <a:off x="190553" y="4840809"/>
              <a:ext cx="1098142" cy="1578067"/>
            </a:xfrm>
            <a:prstGeom prst="rect">
              <a:avLst/>
            </a:prstGeom>
            <a:noFill/>
            <a:ln>
              <a:noFill/>
            </a:ln>
          </p:spPr>
        </p:pic>
      </p:grpSp>
      <p:sp>
        <p:nvSpPr>
          <p:cNvPr id="49" name="Google Shape;49;p1"/>
          <p:cNvSpPr txBox="1"/>
          <p:nvPr/>
        </p:nvSpPr>
        <p:spPr>
          <a:xfrm>
            <a:off x="3311251" y="4648511"/>
            <a:ext cx="3822600" cy="1397819"/>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panose="02020603050405020304" pitchFamily="18" charset="0"/>
                <a:cs typeface="Times New Roman" panose="02020603050405020304" pitchFamily="18" charset="0"/>
                <a:sym typeface="Arial"/>
              </a:rPr>
              <a:t>PRESENTED BY</a:t>
            </a:r>
            <a:endParaRPr sz="18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12700" lvl="0">
              <a:buSzPts val="1800"/>
            </a:pPr>
            <a:r>
              <a:rPr lang="en-US" sz="1800" dirty="0">
                <a:solidFill>
                  <a:schemeClr val="dk1"/>
                </a:solidFill>
                <a:latin typeface="Times New Roman" panose="02020603050405020304" pitchFamily="18" charset="0"/>
                <a:cs typeface="Times New Roman" panose="02020603050405020304" pitchFamily="18" charset="0"/>
              </a:rPr>
              <a:t>25AUR017 – </a:t>
            </a:r>
            <a:r>
              <a:rPr lang="en-US" sz="1800" dirty="0" err="1">
                <a:solidFill>
                  <a:schemeClr val="dk1"/>
                </a:solidFill>
                <a:latin typeface="Times New Roman" panose="02020603050405020304" pitchFamily="18" charset="0"/>
                <a:cs typeface="Times New Roman" panose="02020603050405020304" pitchFamily="18" charset="0"/>
              </a:rPr>
              <a:t>Priyadharshika</a:t>
            </a:r>
            <a:r>
              <a:rPr lang="en-US" sz="1800" dirty="0">
                <a:solidFill>
                  <a:schemeClr val="dk1"/>
                </a:solidFill>
                <a:latin typeface="Times New Roman" panose="02020603050405020304" pitchFamily="18" charset="0"/>
                <a:cs typeface="Times New Roman" panose="02020603050405020304" pitchFamily="18" charset="0"/>
              </a:rPr>
              <a:t> K</a:t>
            </a:r>
            <a:endParaRPr lang="en-US" sz="180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12700">
              <a:buSzPts val="1800"/>
            </a:pPr>
            <a:r>
              <a:rPr lang="en-US" sz="1800" dirty="0">
                <a:solidFill>
                  <a:schemeClr val="dk1"/>
                </a:solidFill>
                <a:latin typeface="Times New Roman" panose="02020603050405020304" pitchFamily="18" charset="0"/>
                <a:cs typeface="Times New Roman" panose="02020603050405020304" pitchFamily="18" charset="0"/>
              </a:rPr>
              <a:t>25AUR018 – Ragha Mruthika M</a:t>
            </a:r>
          </a:p>
          <a:p>
            <a:pPr marL="12700">
              <a:buSzPts val="1800"/>
            </a:pPr>
            <a:r>
              <a:rPr lang="en-US" sz="1800" dirty="0">
                <a:solidFill>
                  <a:schemeClr val="dk1"/>
                </a:solidFill>
                <a:latin typeface="Times New Roman" panose="02020603050405020304" pitchFamily="18" charset="0"/>
                <a:cs typeface="Times New Roman" panose="02020603050405020304" pitchFamily="18" charset="0"/>
              </a:rPr>
              <a:t>25AUR019 – </a:t>
            </a:r>
            <a:r>
              <a:rPr lang="en-US" sz="1800" dirty="0" err="1">
                <a:solidFill>
                  <a:schemeClr val="dk1"/>
                </a:solidFill>
                <a:latin typeface="Times New Roman" panose="02020603050405020304" pitchFamily="18" charset="0"/>
                <a:cs typeface="Times New Roman" panose="02020603050405020304" pitchFamily="18" charset="0"/>
              </a:rPr>
              <a:t>Sabariviknesh</a:t>
            </a:r>
            <a:r>
              <a:rPr lang="en-US" sz="1800" dirty="0">
                <a:solidFill>
                  <a:schemeClr val="dk1"/>
                </a:solidFill>
                <a:latin typeface="Times New Roman" panose="02020603050405020304" pitchFamily="18" charset="0"/>
                <a:cs typeface="Times New Roman" panose="02020603050405020304" pitchFamily="18" charset="0"/>
              </a:rPr>
              <a:t> S R</a:t>
            </a:r>
          </a:p>
          <a:p>
            <a:pPr marL="12700">
              <a:buSzPts val="1800"/>
            </a:pPr>
            <a:r>
              <a:rPr lang="en-US" sz="1800" dirty="0">
                <a:solidFill>
                  <a:schemeClr val="dk1"/>
                </a:solidFill>
                <a:latin typeface="Times New Roman" panose="02020603050405020304" pitchFamily="18" charset="0"/>
                <a:cs typeface="Times New Roman" panose="02020603050405020304" pitchFamily="18" charset="0"/>
              </a:rPr>
              <a:t>25AUR020 – Sanjay N</a:t>
            </a:r>
          </a:p>
        </p:txBody>
      </p:sp>
      <p:sp>
        <p:nvSpPr>
          <p:cNvPr id="50" name="Google Shape;50;p1"/>
          <p:cNvSpPr txBox="1"/>
          <p:nvPr/>
        </p:nvSpPr>
        <p:spPr>
          <a:xfrm>
            <a:off x="10844949" y="6506676"/>
            <a:ext cx="392700"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1</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52" name="Google Shape;52;p1"/>
          <p:cNvSpPr txBox="1"/>
          <p:nvPr/>
        </p:nvSpPr>
        <p:spPr>
          <a:xfrm>
            <a:off x="9190448" y="5636030"/>
            <a:ext cx="1887900"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panose="02020603050405020304" pitchFamily="18" charset="0"/>
                <a:cs typeface="Times New Roman" panose="02020603050405020304" pitchFamily="18" charset="0"/>
                <a:sym typeface="Arial"/>
              </a:rPr>
              <a:t>DATE: 12.11.2025</a:t>
            </a:r>
            <a:endParaRPr sz="18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53" name="Google Shape;53;p1"/>
          <p:cNvSpPr txBox="1"/>
          <p:nvPr/>
        </p:nvSpPr>
        <p:spPr>
          <a:xfrm>
            <a:off x="2645948" y="3419712"/>
            <a:ext cx="8828151" cy="11049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panose="02020603050405020304" pitchFamily="18" charset="0"/>
                <a:cs typeface="Times New Roman" panose="02020603050405020304" pitchFamily="18" charset="0"/>
                <a:sym typeface="Arial"/>
              </a:rPr>
              <a:t> 22GCL12 – FOUNDATION LAB </a:t>
            </a:r>
            <a:r>
              <a:rPr lang="en-US" sz="1800" b="1" dirty="0">
                <a:solidFill>
                  <a:schemeClr val="dk1"/>
                </a:solidFill>
                <a:latin typeface="Times New Roman" panose="02020603050405020304" pitchFamily="18" charset="0"/>
                <a:cs typeface="Times New Roman" panose="02020603050405020304" pitchFamily="18" charset="0"/>
              </a:rPr>
              <a:t>– Electrical, IoT and Web</a:t>
            </a:r>
          </a:p>
          <a:p>
            <a:pPr marL="1270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panose="02020603050405020304" pitchFamily="18" charset="0"/>
                <a:cs typeface="Times New Roman" panose="02020603050405020304" pitchFamily="18" charset="0"/>
                <a:sym typeface="Arial"/>
              </a:rPr>
              <a:t>(Internet of Things)</a:t>
            </a:r>
            <a:endParaRPr lang="en-US" sz="18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6858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54" name="Google Shape;54;p1"/>
          <p:cNvSpPr txBox="1">
            <a:spLocks noGrp="1"/>
          </p:cNvSpPr>
          <p:nvPr>
            <p:ph type="title"/>
          </p:nvPr>
        </p:nvSpPr>
        <p:spPr>
          <a:xfrm>
            <a:off x="2146300" y="654970"/>
            <a:ext cx="10045700" cy="1354200"/>
          </a:xfrm>
          <a:prstGeom prst="rect">
            <a:avLst/>
          </a:prstGeom>
          <a:noFill/>
          <a:ln>
            <a:noFill/>
          </a:ln>
        </p:spPr>
        <p:txBody>
          <a:bodyPr spcFirstLastPara="1" wrap="square" lIns="0" tIns="12700" rIns="0" bIns="0" anchor="t" anchorCtr="0">
            <a:noAutofit/>
          </a:bodyPr>
          <a:lstStyle/>
          <a:p>
            <a:pPr marL="12700" lvl="0" algn="ctr"/>
            <a:r>
              <a:rPr lang="en-US" sz="2800" b="1" dirty="0">
                <a:solidFill>
                  <a:srgbClr val="0B5394"/>
                </a:solidFill>
                <a:latin typeface="Times New Roman"/>
                <a:ea typeface="Times New Roman"/>
                <a:cs typeface="Times New Roman"/>
                <a:sym typeface="Times New Roman"/>
              </a:rPr>
              <a:t>IoT Project Title</a:t>
            </a:r>
            <a:br>
              <a:rPr lang="en-US" sz="2800" b="1">
                <a:solidFill>
                  <a:srgbClr val="0B5394"/>
                </a:solidFill>
                <a:latin typeface="Times New Roman"/>
                <a:ea typeface="Times New Roman"/>
                <a:cs typeface="Times New Roman"/>
                <a:sym typeface="Times New Roman"/>
              </a:rPr>
            </a:br>
            <a:br>
              <a:rPr lang="en-US" sz="2800" b="1">
                <a:solidFill>
                  <a:srgbClr val="0B5394"/>
                </a:solidFill>
                <a:latin typeface="Times New Roman"/>
                <a:ea typeface="Times New Roman"/>
                <a:cs typeface="Times New Roman"/>
                <a:sym typeface="Times New Roman"/>
              </a:rPr>
            </a:br>
            <a:r>
              <a:rPr lang="en-US" sz="2800" b="1">
                <a:solidFill>
                  <a:srgbClr val="0B5394"/>
                </a:solidFill>
                <a:latin typeface="Times New Roman"/>
                <a:ea typeface="Times New Roman"/>
                <a:cs typeface="Times New Roman"/>
                <a:sym typeface="Times New Roman"/>
              </a:rPr>
              <a:t>Energy Monitor</a:t>
            </a:r>
            <a:endParaRPr sz="28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g2588bb4af59_0_6"/>
          <p:cNvSpPr txBox="1">
            <a:spLocks noGrp="1"/>
          </p:cNvSpPr>
          <p:nvPr>
            <p:ph type="title"/>
          </p:nvPr>
        </p:nvSpPr>
        <p:spPr>
          <a:xfrm>
            <a:off x="4957200" y="528476"/>
            <a:ext cx="2277600" cy="5055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dirty="0">
                <a:solidFill>
                  <a:srgbClr val="FF0000"/>
                </a:solidFill>
                <a:latin typeface="Times New Roman" panose="02020603050405020304" pitchFamily="18" charset="0"/>
                <a:cs typeface="Times New Roman" panose="02020603050405020304" pitchFamily="18" charset="0"/>
              </a:rPr>
              <a:t>OBJECTIVE</a:t>
            </a:r>
            <a:endParaRPr sz="3200" dirty="0">
              <a:latin typeface="Times New Roman" panose="02020603050405020304" pitchFamily="18" charset="0"/>
              <a:cs typeface="Times New Roman" panose="02020603050405020304" pitchFamily="18" charset="0"/>
            </a:endParaRPr>
          </a:p>
        </p:txBody>
      </p:sp>
      <p:sp>
        <p:nvSpPr>
          <p:cNvPr id="74" name="Google Shape;74;g2588bb4af59_0_6"/>
          <p:cNvSpPr txBox="1"/>
          <p:nvPr/>
        </p:nvSpPr>
        <p:spPr>
          <a:xfrm>
            <a:off x="10937297" y="6514910"/>
            <a:ext cx="300300"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2</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75" name="Google Shape;75;g2588bb4af59_0_6"/>
          <p:cNvSpPr txBox="1"/>
          <p:nvPr/>
        </p:nvSpPr>
        <p:spPr>
          <a:xfrm>
            <a:off x="1240521" y="1410595"/>
            <a:ext cx="10647600" cy="2384165"/>
          </a:xfrm>
          <a:prstGeom prst="rect">
            <a:avLst/>
          </a:prstGeom>
          <a:noFill/>
          <a:ln>
            <a:noFill/>
          </a:ln>
        </p:spPr>
        <p:txBody>
          <a:bodyPr spcFirstLastPara="1" wrap="square" lIns="0" tIns="12700" rIns="0" bIns="0" anchor="t" anchorCtr="0">
            <a:noAutofit/>
          </a:bodyPr>
          <a:lstStyle/>
          <a:p>
            <a:pPr marL="100965" lvl="0">
              <a:buClr>
                <a:schemeClr val="dk1"/>
              </a:buClr>
              <a:buSzPts val="1400"/>
            </a:pPr>
            <a:r>
              <a:rPr lang="en-US" sz="2800" dirty="0"/>
              <a:t>The objective of this project is to design and implement an automated system capable of accurately detecting and monitoring room occupancy in real time. The system aims to enhance space utilization, improve energy efficiency, and support safety and security operations by employing sensor-based or vision-based technologies. It will capture occupancy data, process it using appropriate algorithms, and make this information available for integration with building management or automation systems. The solution should deliver high reliability, low latency, and minimal false detections while operating under diverse environmental conditions.</a:t>
            </a:r>
            <a:endParaRPr lang="en-US" sz="2500" dirty="0">
              <a:solidFill>
                <a:schemeClr val="dk1"/>
              </a:solidFill>
              <a:latin typeface="Times New Roman" panose="02020603050405020304" pitchFamily="18" charset="0"/>
              <a:cs typeface="Times New Roman" panose="02020603050405020304" pitchFamily="18" charset="0"/>
            </a:endParaRPr>
          </a:p>
          <a:p>
            <a:pPr marL="443865" marR="0" lvl="0" indent="-342900" algn="l" rtl="0">
              <a:lnSpc>
                <a:spcPct val="100000"/>
              </a:lnSpc>
              <a:spcBef>
                <a:spcPts val="0"/>
              </a:spcBef>
              <a:spcAft>
                <a:spcPts val="0"/>
              </a:spcAft>
              <a:buClr>
                <a:schemeClr val="dk1"/>
              </a:buClr>
              <a:buSzPts val="1400"/>
              <a:buFont typeface="Arial" panose="020B0604020202020204" pitchFamily="34" charset="0"/>
              <a:buChar char="•"/>
            </a:pPr>
            <a:endParaRPr sz="25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g2588bb4af59_0_6"/>
          <p:cNvSpPr txBox="1">
            <a:spLocks noGrp="1"/>
          </p:cNvSpPr>
          <p:nvPr>
            <p:ph type="title"/>
          </p:nvPr>
        </p:nvSpPr>
        <p:spPr>
          <a:xfrm>
            <a:off x="1559687" y="717792"/>
            <a:ext cx="9997076" cy="5055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dirty="0">
                <a:solidFill>
                  <a:srgbClr val="FF0000"/>
                </a:solidFill>
                <a:latin typeface="Times New Roman" panose="02020603050405020304" pitchFamily="18" charset="0"/>
                <a:cs typeface="Times New Roman" panose="02020603050405020304" pitchFamily="18" charset="0"/>
              </a:rPr>
              <a:t>HARDWARE AND SOFTWARE REQUIREMENTS</a:t>
            </a:r>
            <a:endParaRPr sz="3200" dirty="0">
              <a:latin typeface="Times New Roman" panose="02020603050405020304" pitchFamily="18" charset="0"/>
              <a:cs typeface="Times New Roman" panose="02020603050405020304" pitchFamily="18" charset="0"/>
            </a:endParaRPr>
          </a:p>
        </p:txBody>
      </p:sp>
      <p:sp>
        <p:nvSpPr>
          <p:cNvPr id="74" name="Google Shape;74;g2588bb4af59_0_6"/>
          <p:cNvSpPr txBox="1"/>
          <p:nvPr/>
        </p:nvSpPr>
        <p:spPr>
          <a:xfrm>
            <a:off x="10937297" y="6514910"/>
            <a:ext cx="300300"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3</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75" name="Google Shape;75;g2588bb4af59_0_6"/>
          <p:cNvSpPr txBox="1"/>
          <p:nvPr/>
        </p:nvSpPr>
        <p:spPr>
          <a:xfrm>
            <a:off x="1240521" y="1410595"/>
            <a:ext cx="4794519" cy="4773035"/>
          </a:xfrm>
          <a:prstGeom prst="rect">
            <a:avLst/>
          </a:prstGeom>
          <a:noFill/>
          <a:ln>
            <a:noFill/>
          </a:ln>
        </p:spPr>
        <p:txBody>
          <a:bodyPr spcFirstLastPara="1" wrap="square" lIns="0" tIns="12700" rIns="0" bIns="0" anchor="t" anchorCtr="0">
            <a:noAutofit/>
          </a:bodyPr>
          <a:lstStyle/>
          <a:p>
            <a:pPr marL="443865" lvl="0" indent="-342900">
              <a:buClr>
                <a:schemeClr val="dk1"/>
              </a:buClr>
              <a:buSzPts val="1400"/>
              <a:buFont typeface="Arial" panose="020B0604020202020204" pitchFamily="34" charset="0"/>
              <a:buChar char="•"/>
            </a:pPr>
            <a:r>
              <a:rPr lang="en-IN" sz="2500" dirty="0">
                <a:solidFill>
                  <a:schemeClr val="dk1"/>
                </a:solidFill>
                <a:latin typeface="Times New Roman" panose="02020603050405020304" pitchFamily="18" charset="0"/>
                <a:cs typeface="Times New Roman" panose="02020603050405020304" pitchFamily="18" charset="0"/>
              </a:rPr>
              <a:t>Hardware used</a:t>
            </a:r>
          </a:p>
          <a:p>
            <a:pPr marL="100965" marR="0" lvl="0" algn="l" rtl="0">
              <a:lnSpc>
                <a:spcPct val="100000"/>
              </a:lnSpc>
              <a:spcBef>
                <a:spcPts val="0"/>
              </a:spcBef>
              <a:spcAft>
                <a:spcPts val="0"/>
              </a:spcAft>
              <a:buClr>
                <a:schemeClr val="dk1"/>
              </a:buClr>
              <a:buSzPts val="1400"/>
            </a:pPr>
            <a:endParaRPr sz="25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5" name="Google Shape;75;g2588bb4af59_0_6"/>
          <p:cNvSpPr txBox="1"/>
          <p:nvPr/>
        </p:nvSpPr>
        <p:spPr>
          <a:xfrm>
            <a:off x="6443078" y="1415490"/>
            <a:ext cx="4794519" cy="4773035"/>
          </a:xfrm>
          <a:prstGeom prst="rect">
            <a:avLst/>
          </a:prstGeom>
          <a:noFill/>
          <a:ln>
            <a:noFill/>
          </a:ln>
        </p:spPr>
        <p:txBody>
          <a:bodyPr spcFirstLastPara="1" wrap="square" lIns="0" tIns="12700" rIns="0" bIns="0" anchor="t" anchorCtr="0">
            <a:noAutofit/>
          </a:bodyPr>
          <a:lstStyle/>
          <a:p>
            <a:pPr marL="443865" lvl="0" indent="-342900">
              <a:buClr>
                <a:schemeClr val="dk1"/>
              </a:buClr>
              <a:buSzPts val="1400"/>
              <a:buFont typeface="Arial" panose="020B0604020202020204" pitchFamily="34" charset="0"/>
              <a:buChar char="•"/>
            </a:pPr>
            <a:r>
              <a:rPr lang="en-IN" sz="2500" dirty="0">
                <a:solidFill>
                  <a:schemeClr val="dk1"/>
                </a:solidFill>
                <a:latin typeface="Times New Roman" panose="02020603050405020304" pitchFamily="18" charset="0"/>
                <a:cs typeface="Times New Roman" panose="02020603050405020304" pitchFamily="18" charset="0"/>
              </a:rPr>
              <a:t>Software used</a:t>
            </a:r>
          </a:p>
          <a:p>
            <a:pPr marL="100965" marR="0" lvl="0" algn="l" rtl="0">
              <a:lnSpc>
                <a:spcPct val="100000"/>
              </a:lnSpc>
              <a:spcBef>
                <a:spcPts val="0"/>
              </a:spcBef>
              <a:spcAft>
                <a:spcPts val="0"/>
              </a:spcAft>
              <a:buClr>
                <a:schemeClr val="dk1"/>
              </a:buClr>
              <a:buSzPts val="1400"/>
            </a:pPr>
            <a:endParaRPr sz="25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2" name="Rectangle 1">
            <a:extLst>
              <a:ext uri="{FF2B5EF4-FFF2-40B4-BE49-F238E27FC236}">
                <a16:creationId xmlns:a16="http://schemas.microsoft.com/office/drawing/2014/main" id="{5FEA8F2A-7AE0-1BD0-6A9C-D3A856406361}"/>
              </a:ext>
            </a:extLst>
          </p:cNvPr>
          <p:cNvSpPr>
            <a:spLocks noChangeArrowheads="1"/>
          </p:cNvSpPr>
          <p:nvPr/>
        </p:nvSpPr>
        <p:spPr bwMode="auto">
          <a:xfrm>
            <a:off x="1240521" y="1982540"/>
            <a:ext cx="436645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Arduino Board (e.g., Arduino Uno)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IR Sensor Modules (Transmitter and Receiver pairs)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LEDs (Indicator LEDs)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Resistors (for LEDs and sensor signal conditioning)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Breadboard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Jumper Wires (Male-to-Male, Male-to-Female as required)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Power Supply/USB Cable for Ardu</a:t>
            </a:r>
            <a:r>
              <a:rPr lang="en-US" altLang="en-US" sz="1800" dirty="0">
                <a:solidFill>
                  <a:schemeClr val="tx1"/>
                </a:solidFill>
                <a:latin typeface="Arial" panose="020B0604020202020204" pitchFamily="34" charset="0"/>
              </a:rPr>
              <a:t>ino</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46720B7F-5D48-F0D5-E840-566A6C306BC3}"/>
              </a:ext>
            </a:extLst>
          </p:cNvPr>
          <p:cNvSpPr>
            <a:spLocks noChangeArrowheads="1"/>
          </p:cNvSpPr>
          <p:nvPr/>
        </p:nvSpPr>
        <p:spPr bwMode="auto">
          <a:xfrm>
            <a:off x="6558225" y="1982540"/>
            <a:ext cx="457873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Arduino IDE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Arduino Programming Language (C/C++ based)</a:t>
            </a:r>
          </a:p>
          <a:p>
            <a:pPr marR="0" lvl="0" algn="l" defTabSz="914400" rtl="0" eaLnBrk="0" fontAlgn="base" latinLnBrk="0" hangingPunct="0">
              <a:lnSpc>
                <a:spcPct val="100000"/>
              </a:lnSpc>
              <a:spcBef>
                <a:spcPct val="0"/>
              </a:spcBef>
              <a:spcAft>
                <a:spcPct val="0"/>
              </a:spcAft>
              <a:buClrTx/>
              <a:buSzTx/>
              <a:tabLst/>
            </a:pPr>
            <a:r>
              <a:rPr lang="en-US" altLang="en-US" sz="1800" dirty="0">
                <a:solidFill>
                  <a:schemeClr val="tx1"/>
                </a:solidFill>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Serial Monitor (for debugging and testing)</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CopperCAM</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4887778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3528695" y="562610"/>
            <a:ext cx="5134610" cy="504825"/>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dirty="0">
                <a:solidFill>
                  <a:srgbClr val="FF0000"/>
                </a:solidFill>
                <a:latin typeface="Times New Roman" panose="02020603050405020304" pitchFamily="18" charset="0"/>
                <a:cs typeface="Times New Roman" panose="02020603050405020304" pitchFamily="18" charset="0"/>
              </a:rPr>
              <a:t>BLOCK DIAGRAM</a:t>
            </a:r>
            <a:endParaRPr sz="3200" dirty="0">
              <a:solidFill>
                <a:srgbClr val="FF0000"/>
              </a:solidFill>
              <a:latin typeface="Times New Roman" panose="02020603050405020304" pitchFamily="18" charset="0"/>
              <a:cs typeface="Times New Roman" panose="02020603050405020304" pitchFamily="18" charset="0"/>
            </a:endParaRPr>
          </a:p>
        </p:txBody>
      </p:sp>
      <p:sp>
        <p:nvSpPr>
          <p:cNvPr id="107" name="Google Shape;107;p8"/>
          <p:cNvSpPr txBox="1"/>
          <p:nvPr/>
        </p:nvSpPr>
        <p:spPr>
          <a:xfrm>
            <a:off x="10937297" y="6514910"/>
            <a:ext cx="300355"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4</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2" name="Rectangle: Rounded Corners 1">
            <a:extLst>
              <a:ext uri="{FF2B5EF4-FFF2-40B4-BE49-F238E27FC236}">
                <a16:creationId xmlns:a16="http://schemas.microsoft.com/office/drawing/2014/main" id="{8794F1E5-CAD6-4953-AFCA-4AF007D61372}"/>
              </a:ext>
            </a:extLst>
          </p:cNvPr>
          <p:cNvSpPr/>
          <p:nvPr/>
        </p:nvSpPr>
        <p:spPr>
          <a:xfrm>
            <a:off x="1811217" y="2795954"/>
            <a:ext cx="1943100" cy="12660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3" name="TextBox 2">
            <a:extLst>
              <a:ext uri="{FF2B5EF4-FFF2-40B4-BE49-F238E27FC236}">
                <a16:creationId xmlns:a16="http://schemas.microsoft.com/office/drawing/2014/main" id="{CEBC85F5-8D19-458E-AA45-9A50342E506D}"/>
              </a:ext>
            </a:extLst>
          </p:cNvPr>
          <p:cNvSpPr txBox="1"/>
          <p:nvPr/>
        </p:nvSpPr>
        <p:spPr>
          <a:xfrm>
            <a:off x="2154116" y="3075057"/>
            <a:ext cx="1450730" cy="707886"/>
          </a:xfrm>
          <a:prstGeom prst="rect">
            <a:avLst/>
          </a:prstGeom>
          <a:noFill/>
        </p:spPr>
        <p:txBody>
          <a:bodyPr wrap="square" rtlCol="0">
            <a:spAutoFit/>
          </a:bodyPr>
          <a:lstStyle/>
          <a:p>
            <a:r>
              <a:rPr lang="en-US" sz="2000" dirty="0">
                <a:latin typeface="Arial Black" panose="020B0A04020102020204" pitchFamily="34" charset="0"/>
              </a:rPr>
              <a:t>POWER SUPPLY</a:t>
            </a:r>
            <a:endParaRPr lang="en-IN" sz="2000" dirty="0">
              <a:latin typeface="Arial Black" panose="020B0A04020102020204" pitchFamily="34" charset="0"/>
            </a:endParaRPr>
          </a:p>
        </p:txBody>
      </p:sp>
      <p:sp>
        <p:nvSpPr>
          <p:cNvPr id="5" name="Rectangle: Rounded Corners 4">
            <a:extLst>
              <a:ext uri="{FF2B5EF4-FFF2-40B4-BE49-F238E27FC236}">
                <a16:creationId xmlns:a16="http://schemas.microsoft.com/office/drawing/2014/main" id="{D84C5CD4-B759-4ED3-9663-EF6B10C5C196}"/>
              </a:ext>
            </a:extLst>
          </p:cNvPr>
          <p:cNvSpPr/>
          <p:nvPr/>
        </p:nvSpPr>
        <p:spPr>
          <a:xfrm>
            <a:off x="5697415" y="2795954"/>
            <a:ext cx="1608993" cy="11605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6" name="TextBox 5">
            <a:extLst>
              <a:ext uri="{FF2B5EF4-FFF2-40B4-BE49-F238E27FC236}">
                <a16:creationId xmlns:a16="http://schemas.microsoft.com/office/drawing/2014/main" id="{380DF4B5-93BE-4E0D-93D8-688EE6953D00}"/>
              </a:ext>
            </a:extLst>
          </p:cNvPr>
          <p:cNvSpPr txBox="1"/>
          <p:nvPr/>
        </p:nvSpPr>
        <p:spPr>
          <a:xfrm>
            <a:off x="6013939" y="3191580"/>
            <a:ext cx="1292469" cy="369332"/>
          </a:xfrm>
          <a:prstGeom prst="rect">
            <a:avLst/>
          </a:prstGeom>
          <a:noFill/>
        </p:spPr>
        <p:txBody>
          <a:bodyPr wrap="square" rtlCol="0">
            <a:spAutoFit/>
          </a:bodyPr>
          <a:lstStyle/>
          <a:p>
            <a:r>
              <a:rPr lang="en-US" sz="1800" dirty="0"/>
              <a:t>ESP 32</a:t>
            </a:r>
            <a:endParaRPr lang="en-IN" sz="1800" dirty="0"/>
          </a:p>
        </p:txBody>
      </p:sp>
      <p:sp>
        <p:nvSpPr>
          <p:cNvPr id="7" name="Rectangle: Rounded Corners 6">
            <a:extLst>
              <a:ext uri="{FF2B5EF4-FFF2-40B4-BE49-F238E27FC236}">
                <a16:creationId xmlns:a16="http://schemas.microsoft.com/office/drawing/2014/main" id="{8528AE08-E17F-4F0D-930C-16EEC15AF537}"/>
              </a:ext>
            </a:extLst>
          </p:cNvPr>
          <p:cNvSpPr/>
          <p:nvPr/>
        </p:nvSpPr>
        <p:spPr>
          <a:xfrm>
            <a:off x="4985238" y="1503485"/>
            <a:ext cx="1028701" cy="6418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9" name="TextBox 8">
            <a:extLst>
              <a:ext uri="{FF2B5EF4-FFF2-40B4-BE49-F238E27FC236}">
                <a16:creationId xmlns:a16="http://schemas.microsoft.com/office/drawing/2014/main" id="{BE545F7B-E3F2-43A2-B77F-8876139E4856}"/>
              </a:ext>
            </a:extLst>
          </p:cNvPr>
          <p:cNvSpPr txBox="1"/>
          <p:nvPr/>
        </p:nvSpPr>
        <p:spPr>
          <a:xfrm>
            <a:off x="5117122" y="1639738"/>
            <a:ext cx="764931" cy="369332"/>
          </a:xfrm>
          <a:prstGeom prst="rect">
            <a:avLst/>
          </a:prstGeom>
          <a:noFill/>
        </p:spPr>
        <p:txBody>
          <a:bodyPr wrap="square" rtlCol="0">
            <a:spAutoFit/>
          </a:bodyPr>
          <a:lstStyle/>
          <a:p>
            <a:r>
              <a:rPr lang="en-US" sz="1800" dirty="0"/>
              <a:t>IR - 1</a:t>
            </a:r>
            <a:endParaRPr lang="en-IN" sz="1800" dirty="0"/>
          </a:p>
        </p:txBody>
      </p:sp>
      <p:sp>
        <p:nvSpPr>
          <p:cNvPr id="10" name="Rectangle: Rounded Corners 9">
            <a:extLst>
              <a:ext uri="{FF2B5EF4-FFF2-40B4-BE49-F238E27FC236}">
                <a16:creationId xmlns:a16="http://schemas.microsoft.com/office/drawing/2014/main" id="{548EC6EA-BFD3-42E6-A7EB-32EF976090A6}"/>
              </a:ext>
            </a:extLst>
          </p:cNvPr>
          <p:cNvSpPr/>
          <p:nvPr/>
        </p:nvSpPr>
        <p:spPr>
          <a:xfrm>
            <a:off x="6945922" y="1534258"/>
            <a:ext cx="1028701" cy="5802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ln w="0"/>
                <a:solidFill>
                  <a:schemeClr val="tx1"/>
                </a:solidFill>
                <a:effectLst>
                  <a:outerShdw blurRad="38100" dist="19050" dir="2700000" algn="tl" rotWithShape="0">
                    <a:schemeClr val="dk1">
                      <a:alpha val="40000"/>
                    </a:schemeClr>
                  </a:outerShdw>
                </a:effectLst>
              </a:rPr>
              <a:t>IR - 2</a:t>
            </a:r>
            <a:endParaRPr lang="en-IN" sz="1800" dirty="0">
              <a:ln w="0"/>
              <a:solidFill>
                <a:schemeClr val="tx1"/>
              </a:solidFill>
              <a:effectLst>
                <a:outerShdw blurRad="38100" dist="19050" dir="2700000" algn="tl" rotWithShape="0">
                  <a:schemeClr val="dk1">
                    <a:alpha val="40000"/>
                  </a:schemeClr>
                </a:outerShdw>
              </a:effectLst>
            </a:endParaRPr>
          </a:p>
        </p:txBody>
      </p:sp>
      <p:sp>
        <p:nvSpPr>
          <p:cNvPr id="11" name="Rectangle: Rounded Corners 10">
            <a:extLst>
              <a:ext uri="{FF2B5EF4-FFF2-40B4-BE49-F238E27FC236}">
                <a16:creationId xmlns:a16="http://schemas.microsoft.com/office/drawing/2014/main" id="{A943138A-F7A0-4BB3-98FA-A237120EB0A2}"/>
              </a:ext>
            </a:extLst>
          </p:cNvPr>
          <p:cNvSpPr/>
          <p:nvPr/>
        </p:nvSpPr>
        <p:spPr>
          <a:xfrm>
            <a:off x="4247391" y="4928116"/>
            <a:ext cx="1028701" cy="5048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LED - 1</a:t>
            </a:r>
            <a:endParaRPr lang="en-IN" dirty="0"/>
          </a:p>
        </p:txBody>
      </p:sp>
      <p:sp>
        <p:nvSpPr>
          <p:cNvPr id="12" name="Rectangle: Rounded Corners 11">
            <a:extLst>
              <a:ext uri="{FF2B5EF4-FFF2-40B4-BE49-F238E27FC236}">
                <a16:creationId xmlns:a16="http://schemas.microsoft.com/office/drawing/2014/main" id="{9864B757-1E2A-441F-96B6-6C8A80438656}"/>
              </a:ext>
            </a:extLst>
          </p:cNvPr>
          <p:cNvSpPr/>
          <p:nvPr/>
        </p:nvSpPr>
        <p:spPr>
          <a:xfrm>
            <a:off x="5581649" y="4919324"/>
            <a:ext cx="1028701" cy="5048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LED - 2</a:t>
            </a:r>
            <a:endParaRPr lang="en-IN" dirty="0">
              <a:ln w="0"/>
              <a:solidFill>
                <a:schemeClr val="tx1"/>
              </a:solidFill>
              <a:effectLst>
                <a:outerShdw blurRad="38100" dist="19050" dir="2700000" algn="tl" rotWithShape="0">
                  <a:schemeClr val="dk1">
                    <a:alpha val="40000"/>
                  </a:schemeClr>
                </a:outerShdw>
              </a:effectLst>
            </a:endParaRPr>
          </a:p>
        </p:txBody>
      </p:sp>
      <p:sp>
        <p:nvSpPr>
          <p:cNvPr id="13" name="Rectangle: Rounded Corners 12">
            <a:extLst>
              <a:ext uri="{FF2B5EF4-FFF2-40B4-BE49-F238E27FC236}">
                <a16:creationId xmlns:a16="http://schemas.microsoft.com/office/drawing/2014/main" id="{E1D8176B-208B-458F-9568-D5AC5C8AB1EC}"/>
              </a:ext>
            </a:extLst>
          </p:cNvPr>
          <p:cNvSpPr/>
          <p:nvPr/>
        </p:nvSpPr>
        <p:spPr>
          <a:xfrm>
            <a:off x="6912219" y="4919324"/>
            <a:ext cx="970036" cy="5048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LED - 3</a:t>
            </a:r>
            <a:endParaRPr lang="en-IN" dirty="0">
              <a:ln w="0"/>
              <a:solidFill>
                <a:schemeClr val="tx1"/>
              </a:solidFill>
              <a:effectLst>
                <a:outerShdw blurRad="38100" dist="19050" dir="2700000" algn="tl" rotWithShape="0">
                  <a:schemeClr val="dk1">
                    <a:alpha val="40000"/>
                  </a:schemeClr>
                </a:outerShdw>
              </a:effectLst>
            </a:endParaRPr>
          </a:p>
        </p:txBody>
      </p:sp>
      <p:sp>
        <p:nvSpPr>
          <p:cNvPr id="14" name="Rectangle: Rounded Corners 13">
            <a:extLst>
              <a:ext uri="{FF2B5EF4-FFF2-40B4-BE49-F238E27FC236}">
                <a16:creationId xmlns:a16="http://schemas.microsoft.com/office/drawing/2014/main" id="{D0270592-B180-4C3B-9D13-E380D7CCF89F}"/>
              </a:ext>
            </a:extLst>
          </p:cNvPr>
          <p:cNvSpPr/>
          <p:nvPr/>
        </p:nvSpPr>
        <p:spPr>
          <a:xfrm>
            <a:off x="8184124" y="4928116"/>
            <a:ext cx="970036" cy="5048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LED - 4</a:t>
            </a:r>
            <a:endParaRPr lang="en-IN" dirty="0">
              <a:ln w="0"/>
              <a:solidFill>
                <a:schemeClr val="tx1"/>
              </a:solidFill>
              <a:effectLst>
                <a:outerShdw blurRad="38100" dist="19050" dir="2700000" algn="tl" rotWithShape="0">
                  <a:schemeClr val="dk1">
                    <a:alpha val="40000"/>
                  </a:schemeClr>
                </a:outerShdw>
              </a:effectLst>
            </a:endParaRPr>
          </a:p>
        </p:txBody>
      </p:sp>
      <p:cxnSp>
        <p:nvCxnSpPr>
          <p:cNvPr id="16" name="Straight Arrow Connector 15">
            <a:extLst>
              <a:ext uri="{FF2B5EF4-FFF2-40B4-BE49-F238E27FC236}">
                <a16:creationId xmlns:a16="http://schemas.microsoft.com/office/drawing/2014/main" id="{F545A13B-D10A-4F65-979F-5A3FF3CD7CB6}"/>
              </a:ext>
            </a:extLst>
          </p:cNvPr>
          <p:cNvCxnSpPr>
            <a:cxnSpLocks/>
            <a:stCxn id="2" idx="3"/>
            <a:endCxn id="2" idx="3"/>
          </p:cNvCxnSpPr>
          <p:nvPr/>
        </p:nvCxnSpPr>
        <p:spPr>
          <a:xfrm>
            <a:off x="3754317" y="3429000"/>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BBF47EC-14F4-4E17-A3A5-7937CDE05B40}"/>
              </a:ext>
            </a:extLst>
          </p:cNvPr>
          <p:cNvCxnSpPr>
            <a:cxnSpLocks/>
            <a:endCxn id="5" idx="1"/>
          </p:cNvCxnSpPr>
          <p:nvPr/>
        </p:nvCxnSpPr>
        <p:spPr>
          <a:xfrm>
            <a:off x="3683977" y="3376246"/>
            <a:ext cx="201343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93A380DA-82BA-4654-8F5E-BBE8CC00B3F8}"/>
              </a:ext>
            </a:extLst>
          </p:cNvPr>
          <p:cNvCxnSpPr>
            <a:cxnSpLocks/>
            <a:endCxn id="7" idx="2"/>
          </p:cNvCxnSpPr>
          <p:nvPr/>
        </p:nvCxnSpPr>
        <p:spPr>
          <a:xfrm flipV="1">
            <a:off x="5499589" y="2145323"/>
            <a:ext cx="0" cy="342900"/>
          </a:xfrm>
          <a:prstGeom prst="line">
            <a:avLst/>
          </a:prstGeom>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6BD6FE00-2FF6-46D7-9F08-D5F79D6DE73F}"/>
              </a:ext>
            </a:extLst>
          </p:cNvPr>
          <p:cNvCxnSpPr/>
          <p:nvPr/>
        </p:nvCxnSpPr>
        <p:spPr>
          <a:xfrm>
            <a:off x="5499589" y="2488223"/>
            <a:ext cx="596411" cy="0"/>
          </a:xfrm>
          <a:prstGeom prst="line">
            <a:avLst/>
          </a:prstGeom>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88DEDADD-0671-4BED-882E-54AB4EDA8D78}"/>
              </a:ext>
            </a:extLst>
          </p:cNvPr>
          <p:cNvCxnSpPr/>
          <p:nvPr/>
        </p:nvCxnSpPr>
        <p:spPr>
          <a:xfrm flipH="1">
            <a:off x="6013939" y="2795954"/>
            <a:ext cx="820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B0774FB-3233-4A2B-BC03-080891D351CF}"/>
              </a:ext>
            </a:extLst>
          </p:cNvPr>
          <p:cNvCxnSpPr/>
          <p:nvPr/>
        </p:nvCxnSpPr>
        <p:spPr>
          <a:xfrm>
            <a:off x="6096000" y="2488223"/>
            <a:ext cx="0" cy="3077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Connector 49">
            <a:extLst>
              <a:ext uri="{FF2B5EF4-FFF2-40B4-BE49-F238E27FC236}">
                <a16:creationId xmlns:a16="http://schemas.microsoft.com/office/drawing/2014/main" id="{65164B1F-806E-430D-8263-199C86933A7D}"/>
              </a:ext>
            </a:extLst>
          </p:cNvPr>
          <p:cNvCxnSpPr>
            <a:stCxn id="10" idx="2"/>
          </p:cNvCxnSpPr>
          <p:nvPr/>
        </p:nvCxnSpPr>
        <p:spPr>
          <a:xfrm flipH="1">
            <a:off x="7460272" y="2114550"/>
            <a:ext cx="1" cy="373673"/>
          </a:xfrm>
          <a:prstGeom prst="line">
            <a:avLst/>
          </a:prstGeom>
        </p:spPr>
        <p:style>
          <a:lnRef idx="2">
            <a:schemeClr val="dk1"/>
          </a:lnRef>
          <a:fillRef idx="0">
            <a:schemeClr val="dk1"/>
          </a:fillRef>
          <a:effectRef idx="1">
            <a:schemeClr val="dk1"/>
          </a:effectRef>
          <a:fontRef idx="minor">
            <a:schemeClr val="tx1"/>
          </a:fontRef>
        </p:style>
      </p:cxnSp>
      <p:cxnSp>
        <p:nvCxnSpPr>
          <p:cNvPr id="52" name="Straight Connector 51">
            <a:extLst>
              <a:ext uri="{FF2B5EF4-FFF2-40B4-BE49-F238E27FC236}">
                <a16:creationId xmlns:a16="http://schemas.microsoft.com/office/drawing/2014/main" id="{810271EA-AAE8-4BC7-86BD-2B3847346BF8}"/>
              </a:ext>
            </a:extLst>
          </p:cNvPr>
          <p:cNvCxnSpPr>
            <a:cxnSpLocks/>
          </p:cNvCxnSpPr>
          <p:nvPr/>
        </p:nvCxnSpPr>
        <p:spPr>
          <a:xfrm flipH="1">
            <a:off x="6912219" y="2488223"/>
            <a:ext cx="548053" cy="0"/>
          </a:xfrm>
          <a:prstGeom prst="line">
            <a:avLst/>
          </a:prstGeom>
        </p:spPr>
        <p:style>
          <a:lnRef idx="2">
            <a:schemeClr val="dk1"/>
          </a:lnRef>
          <a:fillRef idx="0">
            <a:schemeClr val="dk1"/>
          </a:fillRef>
          <a:effectRef idx="1">
            <a:schemeClr val="dk1"/>
          </a:effectRef>
          <a:fontRef idx="minor">
            <a:schemeClr val="tx1"/>
          </a:fontRef>
        </p:style>
      </p:cxnSp>
      <p:cxnSp>
        <p:nvCxnSpPr>
          <p:cNvPr id="55" name="Straight Arrow Connector 54">
            <a:extLst>
              <a:ext uri="{FF2B5EF4-FFF2-40B4-BE49-F238E27FC236}">
                <a16:creationId xmlns:a16="http://schemas.microsoft.com/office/drawing/2014/main" id="{27DA75BF-14D3-40EE-90BC-01BAC88AEC8F}"/>
              </a:ext>
            </a:extLst>
          </p:cNvPr>
          <p:cNvCxnSpPr/>
          <p:nvPr/>
        </p:nvCxnSpPr>
        <p:spPr>
          <a:xfrm>
            <a:off x="6912219" y="2488223"/>
            <a:ext cx="0" cy="3077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1E0211A9-445C-4556-8B9E-E36DCD6666E4}"/>
              </a:ext>
            </a:extLst>
          </p:cNvPr>
          <p:cNvCxnSpPr/>
          <p:nvPr/>
        </p:nvCxnSpPr>
        <p:spPr>
          <a:xfrm>
            <a:off x="5952392" y="3956538"/>
            <a:ext cx="0" cy="378070"/>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Connector 58">
            <a:extLst>
              <a:ext uri="{FF2B5EF4-FFF2-40B4-BE49-F238E27FC236}">
                <a16:creationId xmlns:a16="http://schemas.microsoft.com/office/drawing/2014/main" id="{94D3851F-F764-4E72-8978-14BCED9CA616}"/>
              </a:ext>
            </a:extLst>
          </p:cNvPr>
          <p:cNvCxnSpPr/>
          <p:nvPr/>
        </p:nvCxnSpPr>
        <p:spPr>
          <a:xfrm flipH="1">
            <a:off x="4761741" y="4334608"/>
            <a:ext cx="1190651" cy="0"/>
          </a:xfrm>
          <a:prstGeom prst="line">
            <a:avLst/>
          </a:prstGeom>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7D3EC0D4-A27D-404D-97CF-1EC9B7F77073}"/>
              </a:ext>
            </a:extLst>
          </p:cNvPr>
          <p:cNvCxnSpPr>
            <a:endCxn id="11" idx="0"/>
          </p:cNvCxnSpPr>
          <p:nvPr/>
        </p:nvCxnSpPr>
        <p:spPr>
          <a:xfrm>
            <a:off x="4761741" y="4334608"/>
            <a:ext cx="1" cy="59350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Straight Connector 65">
            <a:extLst>
              <a:ext uri="{FF2B5EF4-FFF2-40B4-BE49-F238E27FC236}">
                <a16:creationId xmlns:a16="http://schemas.microsoft.com/office/drawing/2014/main" id="{0FF8A33C-F698-496E-A23D-63086420F145}"/>
              </a:ext>
            </a:extLst>
          </p:cNvPr>
          <p:cNvCxnSpPr/>
          <p:nvPr/>
        </p:nvCxnSpPr>
        <p:spPr>
          <a:xfrm>
            <a:off x="6312877" y="3956538"/>
            <a:ext cx="0" cy="562708"/>
          </a:xfrm>
          <a:prstGeom prst="line">
            <a:avLst/>
          </a:prstGeom>
        </p:spPr>
        <p:style>
          <a:lnRef idx="2">
            <a:schemeClr val="dk1"/>
          </a:lnRef>
          <a:fillRef idx="0">
            <a:schemeClr val="dk1"/>
          </a:fillRef>
          <a:effectRef idx="1">
            <a:schemeClr val="dk1"/>
          </a:effectRef>
          <a:fontRef idx="minor">
            <a:schemeClr val="tx1"/>
          </a:fontRef>
        </p:style>
      </p:cxnSp>
      <p:cxnSp>
        <p:nvCxnSpPr>
          <p:cNvPr id="68" name="Straight Connector 67">
            <a:extLst>
              <a:ext uri="{FF2B5EF4-FFF2-40B4-BE49-F238E27FC236}">
                <a16:creationId xmlns:a16="http://schemas.microsoft.com/office/drawing/2014/main" id="{08861332-979B-4D01-A1F1-6AF09751CB61}"/>
              </a:ext>
            </a:extLst>
          </p:cNvPr>
          <p:cNvCxnSpPr>
            <a:cxnSpLocks/>
          </p:cNvCxnSpPr>
          <p:nvPr/>
        </p:nvCxnSpPr>
        <p:spPr>
          <a:xfrm flipH="1">
            <a:off x="6095999" y="4519246"/>
            <a:ext cx="216878" cy="0"/>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F19FE6B0-84E2-405B-9946-E101DC94ACD8}"/>
              </a:ext>
            </a:extLst>
          </p:cNvPr>
          <p:cNvCxnSpPr>
            <a:cxnSpLocks/>
            <a:endCxn id="12" idx="0"/>
          </p:cNvCxnSpPr>
          <p:nvPr/>
        </p:nvCxnSpPr>
        <p:spPr>
          <a:xfrm>
            <a:off x="6096000" y="4519246"/>
            <a:ext cx="0" cy="4000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0B3D2547-A38D-4A3A-B14E-A231A42C3634}"/>
              </a:ext>
            </a:extLst>
          </p:cNvPr>
          <p:cNvCxnSpPr/>
          <p:nvPr/>
        </p:nvCxnSpPr>
        <p:spPr>
          <a:xfrm>
            <a:off x="6660173" y="3956538"/>
            <a:ext cx="0" cy="562708"/>
          </a:xfrm>
          <a:prstGeom prst="line">
            <a:avLst/>
          </a:prstGeom>
        </p:spPr>
        <p:style>
          <a:lnRef idx="2">
            <a:schemeClr val="dk1"/>
          </a:lnRef>
          <a:fillRef idx="0">
            <a:schemeClr val="dk1"/>
          </a:fillRef>
          <a:effectRef idx="1">
            <a:schemeClr val="dk1"/>
          </a:effectRef>
          <a:fontRef idx="minor">
            <a:schemeClr val="tx1"/>
          </a:fontRef>
        </p:style>
      </p:cxnSp>
      <p:cxnSp>
        <p:nvCxnSpPr>
          <p:cNvPr id="80" name="Straight Connector 79">
            <a:extLst>
              <a:ext uri="{FF2B5EF4-FFF2-40B4-BE49-F238E27FC236}">
                <a16:creationId xmlns:a16="http://schemas.microsoft.com/office/drawing/2014/main" id="{31AEADA4-B1D8-4992-8CA0-959BF71A6A3E}"/>
              </a:ext>
            </a:extLst>
          </p:cNvPr>
          <p:cNvCxnSpPr/>
          <p:nvPr/>
        </p:nvCxnSpPr>
        <p:spPr>
          <a:xfrm>
            <a:off x="6660173" y="4519246"/>
            <a:ext cx="526072" cy="0"/>
          </a:xfrm>
          <a:prstGeom prst="line">
            <a:avLst/>
          </a:prstGeom>
        </p:spPr>
        <p:style>
          <a:lnRef idx="2">
            <a:schemeClr val="dk1"/>
          </a:lnRef>
          <a:fillRef idx="0">
            <a:schemeClr val="dk1"/>
          </a:fillRef>
          <a:effectRef idx="1">
            <a:schemeClr val="dk1"/>
          </a:effectRef>
          <a:fontRef idx="minor">
            <a:schemeClr val="tx1"/>
          </a:fontRef>
        </p:style>
      </p:cxnSp>
      <p:cxnSp>
        <p:nvCxnSpPr>
          <p:cNvPr id="82" name="Straight Arrow Connector 81">
            <a:extLst>
              <a:ext uri="{FF2B5EF4-FFF2-40B4-BE49-F238E27FC236}">
                <a16:creationId xmlns:a16="http://schemas.microsoft.com/office/drawing/2014/main" id="{DB5DE0D4-8651-40FC-B56E-EC7AD8A58BD9}"/>
              </a:ext>
            </a:extLst>
          </p:cNvPr>
          <p:cNvCxnSpPr/>
          <p:nvPr/>
        </p:nvCxnSpPr>
        <p:spPr>
          <a:xfrm>
            <a:off x="7186245" y="4519246"/>
            <a:ext cx="0" cy="4000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4" name="Straight Connector 83">
            <a:extLst>
              <a:ext uri="{FF2B5EF4-FFF2-40B4-BE49-F238E27FC236}">
                <a16:creationId xmlns:a16="http://schemas.microsoft.com/office/drawing/2014/main" id="{F603954A-0393-4F7F-964C-39C1AB3DD797}"/>
              </a:ext>
            </a:extLst>
          </p:cNvPr>
          <p:cNvCxnSpPr>
            <a:cxnSpLocks/>
          </p:cNvCxnSpPr>
          <p:nvPr/>
        </p:nvCxnSpPr>
        <p:spPr>
          <a:xfrm>
            <a:off x="6945922" y="3985127"/>
            <a:ext cx="0" cy="279141"/>
          </a:xfrm>
          <a:prstGeom prst="line">
            <a:avLst/>
          </a:prstGeom>
        </p:spPr>
        <p:style>
          <a:lnRef idx="2">
            <a:schemeClr val="dk1"/>
          </a:lnRef>
          <a:fillRef idx="0">
            <a:schemeClr val="dk1"/>
          </a:fillRef>
          <a:effectRef idx="1">
            <a:schemeClr val="dk1"/>
          </a:effectRef>
          <a:fontRef idx="minor">
            <a:schemeClr val="tx1"/>
          </a:fontRef>
        </p:style>
      </p:cxnSp>
      <p:cxnSp>
        <p:nvCxnSpPr>
          <p:cNvPr id="87" name="Straight Connector 86">
            <a:extLst>
              <a:ext uri="{FF2B5EF4-FFF2-40B4-BE49-F238E27FC236}">
                <a16:creationId xmlns:a16="http://schemas.microsoft.com/office/drawing/2014/main" id="{E2F93BC2-2573-418C-A94F-54533C98CF5D}"/>
              </a:ext>
            </a:extLst>
          </p:cNvPr>
          <p:cNvCxnSpPr>
            <a:cxnSpLocks/>
          </p:cNvCxnSpPr>
          <p:nvPr/>
        </p:nvCxnSpPr>
        <p:spPr>
          <a:xfrm>
            <a:off x="6945922" y="4279643"/>
            <a:ext cx="1736433" cy="0"/>
          </a:xfrm>
          <a:prstGeom prst="line">
            <a:avLst/>
          </a:prstGeom>
        </p:spPr>
        <p:style>
          <a:lnRef idx="2">
            <a:schemeClr val="dk1"/>
          </a:lnRef>
          <a:fillRef idx="0">
            <a:schemeClr val="dk1"/>
          </a:fillRef>
          <a:effectRef idx="1">
            <a:schemeClr val="dk1"/>
          </a:effectRef>
          <a:fontRef idx="minor">
            <a:schemeClr val="tx1"/>
          </a:fontRef>
        </p:style>
      </p:cxnSp>
      <p:cxnSp>
        <p:nvCxnSpPr>
          <p:cNvPr id="89" name="Straight Arrow Connector 88">
            <a:extLst>
              <a:ext uri="{FF2B5EF4-FFF2-40B4-BE49-F238E27FC236}">
                <a16:creationId xmlns:a16="http://schemas.microsoft.com/office/drawing/2014/main" id="{34A294CE-D545-4FE0-9457-74D962AA4F0F}"/>
              </a:ext>
            </a:extLst>
          </p:cNvPr>
          <p:cNvCxnSpPr>
            <a:cxnSpLocks/>
            <a:endCxn id="14" idx="0"/>
          </p:cNvCxnSpPr>
          <p:nvPr/>
        </p:nvCxnSpPr>
        <p:spPr>
          <a:xfrm>
            <a:off x="8658206" y="4264268"/>
            <a:ext cx="10936" cy="66384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 name="Cloud 3">
            <a:extLst>
              <a:ext uri="{FF2B5EF4-FFF2-40B4-BE49-F238E27FC236}">
                <a16:creationId xmlns:a16="http://schemas.microsoft.com/office/drawing/2014/main" id="{61D65943-7617-4B58-863D-EE7AC73AF621}"/>
              </a:ext>
            </a:extLst>
          </p:cNvPr>
          <p:cNvSpPr/>
          <p:nvPr/>
        </p:nvSpPr>
        <p:spPr>
          <a:xfrm>
            <a:off x="8857543" y="2625664"/>
            <a:ext cx="2527265" cy="1499033"/>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ln w="0"/>
                <a:solidFill>
                  <a:schemeClr val="tx1"/>
                </a:solidFill>
                <a:effectLst>
                  <a:outerShdw blurRad="38100" dist="19050" dir="2700000" algn="tl" rotWithShape="0">
                    <a:schemeClr val="dk1">
                      <a:alpha val="40000"/>
                    </a:schemeClr>
                  </a:outerShdw>
                </a:effectLst>
              </a:rPr>
              <a:t>ARDUINO CLOUD</a:t>
            </a:r>
            <a:endParaRPr lang="en-IN" sz="1800" dirty="0">
              <a:ln w="0"/>
              <a:solidFill>
                <a:schemeClr val="tx1"/>
              </a:solidFill>
              <a:effectLst>
                <a:outerShdw blurRad="38100" dist="19050" dir="2700000" algn="tl" rotWithShape="0">
                  <a:schemeClr val="dk1">
                    <a:alpha val="40000"/>
                  </a:schemeClr>
                </a:outerShdw>
              </a:effectLst>
            </a:endParaRPr>
          </a:p>
        </p:txBody>
      </p:sp>
      <p:cxnSp>
        <p:nvCxnSpPr>
          <p:cNvPr id="15" name="Straight Arrow Connector 14">
            <a:extLst>
              <a:ext uri="{FF2B5EF4-FFF2-40B4-BE49-F238E27FC236}">
                <a16:creationId xmlns:a16="http://schemas.microsoft.com/office/drawing/2014/main" id="{FCF450F7-EC5D-4B8D-B4AD-B31FB504BC80}"/>
              </a:ext>
            </a:extLst>
          </p:cNvPr>
          <p:cNvCxnSpPr>
            <a:cxnSpLocks/>
            <a:stCxn id="4" idx="2"/>
            <a:endCxn id="5" idx="3"/>
          </p:cNvCxnSpPr>
          <p:nvPr/>
        </p:nvCxnSpPr>
        <p:spPr>
          <a:xfrm flipH="1">
            <a:off x="7306408" y="3375181"/>
            <a:ext cx="1558974" cy="10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2684145" y="562610"/>
            <a:ext cx="6823710" cy="505267"/>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dirty="0">
                <a:solidFill>
                  <a:srgbClr val="FF0000"/>
                </a:solidFill>
                <a:latin typeface="Times New Roman" panose="02020603050405020304" pitchFamily="18" charset="0"/>
                <a:cs typeface="Times New Roman" panose="02020603050405020304" pitchFamily="18" charset="0"/>
              </a:rPr>
              <a:t>SERIAL MONITOR OUTPUT</a:t>
            </a:r>
            <a:endParaRPr sz="3200" dirty="0">
              <a:solidFill>
                <a:srgbClr val="FF0000"/>
              </a:solidFill>
              <a:latin typeface="Times New Roman" panose="02020603050405020304" pitchFamily="18" charset="0"/>
              <a:cs typeface="Times New Roman" panose="02020603050405020304" pitchFamily="18" charset="0"/>
            </a:endParaRPr>
          </a:p>
        </p:txBody>
      </p:sp>
      <p:sp>
        <p:nvSpPr>
          <p:cNvPr id="107" name="Google Shape;107;p8"/>
          <p:cNvSpPr txBox="1"/>
          <p:nvPr/>
        </p:nvSpPr>
        <p:spPr>
          <a:xfrm>
            <a:off x="10937297" y="6514910"/>
            <a:ext cx="300355"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5</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pic>
        <p:nvPicPr>
          <p:cNvPr id="3" name="Picture 2" descr="A screenshot of a computer&#10;&#10;AI-generated content may be incorrect.">
            <a:extLst>
              <a:ext uri="{FF2B5EF4-FFF2-40B4-BE49-F238E27FC236}">
                <a16:creationId xmlns:a16="http://schemas.microsoft.com/office/drawing/2014/main" id="{92C160A8-66C7-B566-4A17-E50007FCE650}"/>
              </a:ext>
            </a:extLst>
          </p:cNvPr>
          <p:cNvPicPr>
            <a:picLocks noChangeAspect="1"/>
          </p:cNvPicPr>
          <p:nvPr/>
        </p:nvPicPr>
        <p:blipFill>
          <a:blip r:embed="rId3"/>
          <a:stretch>
            <a:fillRect/>
          </a:stretch>
        </p:blipFill>
        <p:spPr>
          <a:xfrm>
            <a:off x="914400" y="1718269"/>
            <a:ext cx="5014129" cy="4119824"/>
          </a:xfrm>
          <a:prstGeom prst="rect">
            <a:avLst/>
          </a:prstGeom>
        </p:spPr>
      </p:pic>
      <p:pic>
        <p:nvPicPr>
          <p:cNvPr id="5" name="Picture 4" descr="A computer screen with a white screen&#10;&#10;AI-generated content may be incorrect.">
            <a:extLst>
              <a:ext uri="{FF2B5EF4-FFF2-40B4-BE49-F238E27FC236}">
                <a16:creationId xmlns:a16="http://schemas.microsoft.com/office/drawing/2014/main" id="{3EE6CF5A-C2DA-343C-1AB5-08B525D59F6E}"/>
              </a:ext>
            </a:extLst>
          </p:cNvPr>
          <p:cNvPicPr>
            <a:picLocks noChangeAspect="1"/>
          </p:cNvPicPr>
          <p:nvPr/>
        </p:nvPicPr>
        <p:blipFill>
          <a:blip r:embed="rId4"/>
          <a:stretch>
            <a:fillRect/>
          </a:stretch>
        </p:blipFill>
        <p:spPr>
          <a:xfrm>
            <a:off x="6096000" y="1650441"/>
            <a:ext cx="5489749" cy="4187652"/>
          </a:xfrm>
          <a:prstGeom prst="rect">
            <a:avLst/>
          </a:prstGeom>
        </p:spPr>
      </p:pic>
    </p:spTree>
    <p:extLst>
      <p:ext uri="{BB962C8B-B14F-4D97-AF65-F5344CB8AC3E}">
        <p14:creationId xmlns:p14="http://schemas.microsoft.com/office/powerpoint/2010/main" val="355287473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2705100" y="394979"/>
            <a:ext cx="6781800" cy="505267"/>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dirty="0">
                <a:solidFill>
                  <a:srgbClr val="FF0000"/>
                </a:solidFill>
                <a:latin typeface="Times New Roman" panose="02020603050405020304" pitchFamily="18" charset="0"/>
                <a:cs typeface="Times New Roman" panose="02020603050405020304" pitchFamily="18" charset="0"/>
              </a:rPr>
              <a:t>DASHBOARD</a:t>
            </a:r>
            <a:endParaRPr sz="3200" dirty="0">
              <a:solidFill>
                <a:srgbClr val="FF0000"/>
              </a:solidFill>
              <a:latin typeface="Times New Roman" panose="02020603050405020304" pitchFamily="18" charset="0"/>
              <a:cs typeface="Times New Roman" panose="02020603050405020304" pitchFamily="18" charset="0"/>
            </a:endParaRPr>
          </a:p>
        </p:txBody>
      </p:sp>
      <p:sp>
        <p:nvSpPr>
          <p:cNvPr id="107" name="Google Shape;107;p8"/>
          <p:cNvSpPr txBox="1"/>
          <p:nvPr/>
        </p:nvSpPr>
        <p:spPr>
          <a:xfrm>
            <a:off x="10937297" y="6514910"/>
            <a:ext cx="300355"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6</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pic>
        <p:nvPicPr>
          <p:cNvPr id="3" name="Picture 2" descr="A computer screen with a white box&#10;&#10;AI-generated content may be incorrect.">
            <a:extLst>
              <a:ext uri="{FF2B5EF4-FFF2-40B4-BE49-F238E27FC236}">
                <a16:creationId xmlns:a16="http://schemas.microsoft.com/office/drawing/2014/main" id="{76184637-CB99-1371-CBE0-CEF2B520A0A1}"/>
              </a:ext>
            </a:extLst>
          </p:cNvPr>
          <p:cNvPicPr>
            <a:picLocks noChangeAspect="1"/>
          </p:cNvPicPr>
          <p:nvPr/>
        </p:nvPicPr>
        <p:blipFill>
          <a:blip r:embed="rId3"/>
          <a:stretch>
            <a:fillRect/>
          </a:stretch>
        </p:blipFill>
        <p:spPr>
          <a:xfrm>
            <a:off x="2130005" y="1195753"/>
            <a:ext cx="8611683" cy="4898571"/>
          </a:xfrm>
          <a:prstGeom prst="rect">
            <a:avLst/>
          </a:prstGeom>
        </p:spPr>
      </p:pic>
    </p:spTree>
    <p:extLst>
      <p:ext uri="{BB962C8B-B14F-4D97-AF65-F5344CB8AC3E}">
        <p14:creationId xmlns:p14="http://schemas.microsoft.com/office/powerpoint/2010/main" val="17305177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g2588bb4af59_0_6"/>
          <p:cNvSpPr txBox="1">
            <a:spLocks noGrp="1"/>
          </p:cNvSpPr>
          <p:nvPr>
            <p:ph type="title"/>
          </p:nvPr>
        </p:nvSpPr>
        <p:spPr>
          <a:xfrm>
            <a:off x="4170395" y="528476"/>
            <a:ext cx="3851211" cy="505267"/>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SzPts val="1400"/>
              <a:buNone/>
            </a:pPr>
            <a:r>
              <a:rPr lang="en-US" sz="3200" dirty="0">
                <a:solidFill>
                  <a:srgbClr val="FF0000"/>
                </a:solidFill>
                <a:latin typeface="Times New Roman" panose="02020603050405020304" pitchFamily="18" charset="0"/>
                <a:cs typeface="Times New Roman" panose="02020603050405020304" pitchFamily="18" charset="0"/>
              </a:rPr>
              <a:t>CONCLUSION</a:t>
            </a:r>
            <a:endParaRPr lang="en-US" sz="3200" dirty="0">
              <a:latin typeface="Times New Roman" panose="02020603050405020304" pitchFamily="18" charset="0"/>
              <a:cs typeface="Times New Roman" panose="02020603050405020304" pitchFamily="18" charset="0"/>
            </a:endParaRPr>
          </a:p>
        </p:txBody>
      </p:sp>
      <p:sp>
        <p:nvSpPr>
          <p:cNvPr id="74" name="Google Shape;74;g2588bb4af59_0_6"/>
          <p:cNvSpPr txBox="1"/>
          <p:nvPr/>
        </p:nvSpPr>
        <p:spPr>
          <a:xfrm>
            <a:off x="10937297" y="6514910"/>
            <a:ext cx="300300" cy="321306"/>
          </a:xfrm>
          <a:prstGeom prst="rect">
            <a:avLst/>
          </a:prstGeom>
          <a:noFill/>
          <a:ln>
            <a:noFill/>
          </a:ln>
        </p:spPr>
        <p:txBody>
          <a:bodyPr spcFirstLastPara="1" wrap="square" lIns="0" tIns="0" rIns="0" bIns="0" anchor="t" anchorCtr="0">
            <a:spAutoFit/>
          </a:bodyPr>
          <a:lstStyle/>
          <a:p>
            <a:pPr marL="38100" marR="0" lvl="0" indent="0" algn="l" rtl="0">
              <a:lnSpc>
                <a:spcPct val="116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Times New Roman" panose="02020603050405020304" pitchFamily="18" charset="0"/>
                <a:cs typeface="Times New Roman" panose="02020603050405020304" pitchFamily="18" charset="0"/>
                <a:sym typeface="Arial"/>
              </a:rPr>
              <a:t>7</a:t>
            </a:fld>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75" name="Google Shape;75;g2588bb4af59_0_6"/>
          <p:cNvSpPr txBox="1"/>
          <p:nvPr/>
        </p:nvSpPr>
        <p:spPr>
          <a:xfrm>
            <a:off x="1240521" y="1410595"/>
            <a:ext cx="10647600" cy="5001635"/>
          </a:xfrm>
          <a:prstGeom prst="rect">
            <a:avLst/>
          </a:prstGeom>
          <a:noFill/>
          <a:ln>
            <a:noFill/>
          </a:ln>
        </p:spPr>
        <p:txBody>
          <a:bodyPr spcFirstLastPara="1" wrap="square" lIns="0" tIns="12700" rIns="0" bIns="0" anchor="t" anchorCtr="0">
            <a:noAutofit/>
          </a:bodyPr>
          <a:lstStyle/>
          <a:p>
            <a:pPr marL="100965" lvl="0">
              <a:buClr>
                <a:schemeClr val="dk1"/>
              </a:buClr>
              <a:buSzPts val="1400"/>
            </a:pPr>
            <a:r>
              <a:rPr lang="en-US" sz="2400" dirty="0"/>
              <a:t>The Automatic Room Occupancy Detector successfully demonstrates an efficient and cost-effective approach to monitoring real-time occupancy using IR sensors and an Arduino-based control system. By integrating hardware components such as IR sensor modules, LEDs, and a microcontroller with a simple yet reliable software algorithm, the system is able to detect entry and exit events and maintain an accurate occupancy count. The project highlights how low-cost embedded solutions can support improved energy management, security, and space utilization within buildings. Overall, the prototype validates the feasibility of deploying sensor-driven automation to enhance operational efficiency and establish a foundation for more advanced smart-room applications.</a:t>
            </a:r>
            <a:endParaRPr lang="en-US" sz="2400" dirty="0">
              <a:solidFill>
                <a:schemeClr val="dk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64211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0"/>
          <p:cNvSpPr txBox="1">
            <a:spLocks noGrp="1"/>
          </p:cNvSpPr>
          <p:nvPr>
            <p:ph type="title"/>
          </p:nvPr>
        </p:nvSpPr>
        <p:spPr>
          <a:xfrm>
            <a:off x="2022475" y="2750675"/>
            <a:ext cx="8862300" cy="997800"/>
          </a:xfrm>
          <a:prstGeom prst="rect">
            <a:avLst/>
          </a:prstGeom>
          <a:noFill/>
          <a:ln>
            <a:noFill/>
          </a:ln>
        </p:spPr>
        <p:txBody>
          <a:bodyPr spcFirstLastPara="1" wrap="square" lIns="0" tIns="12700" rIns="0" bIns="0" anchor="t" anchorCtr="0">
            <a:noAutofit/>
          </a:bodyPr>
          <a:lstStyle/>
          <a:p>
            <a:pPr marL="120650" lvl="0" indent="0" algn="ctr" rtl="0">
              <a:lnSpc>
                <a:spcPct val="100000"/>
              </a:lnSpc>
              <a:spcBef>
                <a:spcPts val="0"/>
              </a:spcBef>
              <a:spcAft>
                <a:spcPts val="0"/>
              </a:spcAft>
              <a:buSzPts val="1400"/>
              <a:buNone/>
            </a:pPr>
            <a:r>
              <a:rPr lang="en-US">
                <a:solidFill>
                  <a:srgbClr val="FF0000"/>
                </a:solidFill>
                <a:latin typeface="Times New Roman" panose="02020603050405020304" pitchFamily="18" charset="0"/>
                <a:cs typeface="Times New Roman" panose="02020603050405020304" pitchFamily="18" charset="0"/>
              </a:rPr>
              <a:t>THANK YOU</a:t>
            </a:r>
            <a:endParaRPr>
              <a:solidFill>
                <a:srgbClr val="FF0000"/>
              </a:solidFill>
              <a:latin typeface="Times New Roman" panose="02020603050405020304" pitchFamily="18" charset="0"/>
              <a:cs typeface="Times New Roman" panose="02020603050405020304" pitchFamily="18" charset="0"/>
            </a:endParaRPr>
          </a:p>
        </p:txBody>
      </p:sp>
      <p:sp>
        <p:nvSpPr>
          <p:cNvPr id="121" name="Google Shape;121;p10"/>
          <p:cNvSpPr txBox="1">
            <a:spLocks noGrp="1"/>
          </p:cNvSpPr>
          <p:nvPr>
            <p:ph type="sldNum" idx="12"/>
          </p:nvPr>
        </p:nvSpPr>
        <p:spPr>
          <a:xfrm>
            <a:off x="10713466" y="6514900"/>
            <a:ext cx="566100" cy="321306"/>
          </a:xfrm>
          <a:prstGeom prst="rect">
            <a:avLst/>
          </a:prstGeom>
          <a:noFill/>
          <a:ln>
            <a:noFill/>
          </a:ln>
        </p:spPr>
        <p:txBody>
          <a:bodyPr spcFirstLastPara="1" wrap="square" lIns="0" tIns="0" rIns="0" bIns="0" anchor="t" anchorCtr="0">
            <a:spAutoFit/>
          </a:bodyPr>
          <a:lstStyle/>
          <a:p>
            <a:pPr marL="38100" lvl="0" indent="0" algn="l" rtl="0">
              <a:lnSpc>
                <a:spcPct val="116000"/>
              </a:lnSpc>
              <a:spcBef>
                <a:spcPts val="0"/>
              </a:spcBef>
              <a:spcAft>
                <a:spcPts val="0"/>
              </a:spcAft>
              <a:buSzPts val="1800"/>
              <a:buNone/>
            </a:pPr>
            <a:fld id="{00000000-1234-1234-1234-123412341234}" type="slidenum">
              <a:rPr lang="en-US">
                <a:latin typeface="Times New Roman" panose="02020603050405020304" pitchFamily="18" charset="0"/>
                <a:cs typeface="Times New Roman" panose="02020603050405020304" pitchFamily="18" charset="0"/>
              </a:rPr>
              <a:t>8</a:t>
            </a:fld>
            <a:endParaRPr>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987</TotalTime>
  <Words>389</Words>
  <Application>Microsoft Office PowerPoint</Application>
  <PresentationFormat>Widescreen</PresentationFormat>
  <Paragraphs>58</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Black</vt:lpstr>
      <vt:lpstr>Calibri</vt:lpstr>
      <vt:lpstr>Times New Roman</vt:lpstr>
      <vt:lpstr>Office Theme</vt:lpstr>
      <vt:lpstr>IoT Project Title  Energy Monitor</vt:lpstr>
      <vt:lpstr>OBJECTIVE</vt:lpstr>
      <vt:lpstr>HARDWARE AND SOFTWARE REQUIREMENTS</vt:lpstr>
      <vt:lpstr>BLOCK DIAGRAM</vt:lpstr>
      <vt:lpstr>SERIAL MONITOR OUTPUT</vt:lpstr>
      <vt:lpstr>DASHBOARD</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Gokul Senthilkumar</dc:creator>
  <cp:lastModifiedBy>sanjay</cp:lastModifiedBy>
  <cp:revision>19</cp:revision>
  <dcterms:created xsi:type="dcterms:W3CDTF">2023-02-03T06:11:18Z</dcterms:created>
  <dcterms:modified xsi:type="dcterms:W3CDTF">2025-11-11T06:31:51Z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ICV">
    <vt:lpwstr>CCA21B7555E24D3FB40348EB3CE2AD24</vt:lpwstr>
  </property>
  <property fmtid="{D5CDD505-2E9C-101B-9397-08002B2CF9AE}" pid="4" name="KSOProductBuildVer">
    <vt:lpwstr>1033-11.2.0.11440</vt:lpwstr>
  </property>
</Properties>
</file>